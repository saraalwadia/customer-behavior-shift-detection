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5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4" r:id="rId16"/>
    <p:sldId id="269" r:id="rId17"/>
    <p:sldId id="270" r:id="rId18"/>
    <p:sldId id="271" r:id="rId19"/>
    <p:sldId id="273" r:id="rId20"/>
    <p:sldId id="272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na almadhoun" initials="ra" lastIdx="1" clrIdx="0">
    <p:extLst>
      <p:ext uri="{19B8F6BF-5375-455C-9EA6-DF929625EA0E}">
        <p15:presenceInfo xmlns:p15="http://schemas.microsoft.com/office/powerpoint/2012/main" userId="S::20200732@alazhar.edu.ps::ca7e95b9-f1e3-40a7-9b48-5b4c8de0c9c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4901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2F761-8F48-7388-B847-84B8B2693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07F2A-19FD-4133-A6CF-2B100F4D56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8B495C-3416-3827-1400-F4B058C52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753B9-74E8-2390-13C3-7A15BAF384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1680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5245C-9BA7-13E7-D7F4-C9D5A09C4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D8C331-1EB3-A0B4-15D9-0479D9B8E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4D2F5-E431-9590-87FD-714EEFC0AC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36427-A327-35EE-8BAA-5F0496E2C2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128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623F0-4CF8-7B0C-43EB-A6B472175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63D383-3B4E-2E80-AB3B-94967031DF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DBA937-BC49-5ECF-EC89-86EEAE945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B8F25-A843-42C8-6A46-61C819392A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1241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31520" y="13716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GSG  ×  PSSAR   —   Advanced Training CAPSTONE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Customer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Shift Detection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early signals of customer disengagement from transaction data —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customer is already gone.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892040"/>
            <a:ext cx="2011680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5394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Sara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Alwadia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&amp; Rana Almadhoun 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5806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II Dataset  •  Python, Scikit-learn, XGBoost, SHAP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Set Out to Solve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e-commerce, customers rarely announce they're leaving — they simply order less, spend less, and fade out quietly. By the time a business notices, the relationship is often already lost.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EF3FD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423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9992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disengagement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328416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changes gradually, with no explicit signal like a cancellation.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21945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EF3FD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42316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9992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too late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0" y="3328416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reporting shows the drop only after it has already happened.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21945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EF3FD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42316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29992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opportunity lost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66760" y="3328416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early flag, there's no window to re-engage the customer.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8006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machine learning pipeline that flags customers likely to reduce their purchasing activity in the next observation window — early enough, and clearly enough, to act on it.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Customer Behavior Shift Detection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— Online Retail II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transaction log from a UK-based online gift retailer, spanning two full years. Each row is a single line item on a customer invoice.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65836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Invoice, StockCode, Description, Quantity, Price, Customer ID, Country, InvoiceDate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span: December 2009 – December 2011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Granularity: individual purchase line items, rolled up per customer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value: Quantity × Price → TotalPrice per transaction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52360" y="1143000"/>
            <a:ext cx="4160520" cy="4892040"/>
          </a:xfrm>
          <a:prstGeom prst="roundRect">
            <a:avLst>
              <a:gd name="adj" fmla="val 219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417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UK-Based Online Retailer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0" y="2148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yrs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continuous transaction history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0" y="33832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0" y="3886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unique customers tracked over time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0" y="46177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/ 60 / 90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772400" y="5120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observation windows tested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Customer Behavior Shift Detection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Inspection &amp; Cleaning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feature engineering, the raw dataset was inspected for quality issues that could distort behavioral measurements.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46120" cy="512064"/>
          </a:xfrm>
          <a:prstGeom prst="roundRect">
            <a:avLst>
              <a:gd name="adj" fmla="val 12500"/>
            </a:avLst>
          </a:prstGeom>
          <a:solidFill>
            <a:srgbClr val="EEF3FD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82880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4128" y="1691640"/>
            <a:ext cx="2624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Customer IDs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69080" y="1691640"/>
            <a:ext cx="3246120" cy="512064"/>
          </a:xfrm>
          <a:prstGeom prst="roundRect">
            <a:avLst>
              <a:gd name="adj" fmla="val 12500"/>
            </a:avLst>
          </a:prstGeom>
          <a:solidFill>
            <a:srgbClr val="EEF3FD"/>
          </a:solidFill>
          <a:ln/>
        </p:spPr>
      </p:sp>
      <p:sp>
        <p:nvSpPr>
          <p:cNvPr id="9" name="Shape 7"/>
          <p:cNvSpPr/>
          <p:nvPr/>
        </p:nvSpPr>
        <p:spPr>
          <a:xfrm>
            <a:off x="4206240" y="182880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18288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44568" y="1691640"/>
            <a:ext cx="2624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descriptions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3246120" cy="512064"/>
          </a:xfrm>
          <a:prstGeom prst="roundRect">
            <a:avLst>
              <a:gd name="adj" fmla="val 12500"/>
            </a:avLst>
          </a:prstGeom>
          <a:solidFill>
            <a:srgbClr val="EEF3FD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42316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4231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" y="2286000"/>
            <a:ext cx="2624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69080" y="2286000"/>
            <a:ext cx="3246120" cy="512064"/>
          </a:xfrm>
          <a:prstGeom prst="roundRect">
            <a:avLst>
              <a:gd name="adj" fmla="val 12500"/>
            </a:avLst>
          </a:prstGeom>
          <a:solidFill>
            <a:srgbClr val="EEF3FD"/>
          </a:solidFill>
          <a:ln/>
        </p:spPr>
      </p:sp>
      <p:sp>
        <p:nvSpPr>
          <p:cNvPr id="17" name="Shape 15"/>
          <p:cNvSpPr/>
          <p:nvPr/>
        </p:nvSpPr>
        <p:spPr>
          <a:xfrm>
            <a:off x="4206240" y="242316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0" y="24231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44568" y="2286000"/>
            <a:ext cx="2624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quantities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880360"/>
            <a:ext cx="3246120" cy="512064"/>
          </a:xfrm>
          <a:prstGeom prst="roundRect">
            <a:avLst>
              <a:gd name="adj" fmla="val 12500"/>
            </a:avLst>
          </a:prstGeom>
          <a:solidFill>
            <a:srgbClr val="EEF3FD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01752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0175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" y="2880360"/>
            <a:ext cx="2624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prices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069080" y="2880360"/>
            <a:ext cx="3246120" cy="512064"/>
          </a:xfrm>
          <a:prstGeom prst="roundRect">
            <a:avLst>
              <a:gd name="adj" fmla="val 12500"/>
            </a:avLst>
          </a:prstGeom>
          <a:solidFill>
            <a:srgbClr val="EEF3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206240" y="301752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4206240" y="30175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44568" y="2880360"/>
            <a:ext cx="2624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prices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474720"/>
            <a:ext cx="3246120" cy="512064"/>
          </a:xfrm>
          <a:prstGeom prst="roundRect">
            <a:avLst>
              <a:gd name="adj" fmla="val 12500"/>
            </a:avLst>
          </a:prstGeom>
          <a:solidFill>
            <a:srgbClr val="EEF3FD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361188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6118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24128" y="3474720"/>
            <a:ext cx="2624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transactions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069080" y="3474720"/>
            <a:ext cx="3246120" cy="512064"/>
          </a:xfrm>
          <a:prstGeom prst="roundRect">
            <a:avLst>
              <a:gd name="adj" fmla="val 12500"/>
            </a:avLst>
          </a:prstGeom>
          <a:solidFill>
            <a:srgbClr val="EEF3FD"/>
          </a:solidFill>
          <a:ln/>
        </p:spPr>
      </p:sp>
      <p:sp>
        <p:nvSpPr>
          <p:cNvPr id="33" name="Shape 31"/>
          <p:cNvSpPr/>
          <p:nvPr/>
        </p:nvSpPr>
        <p:spPr>
          <a:xfrm>
            <a:off x="4206240" y="361188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4206240" y="36118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44568" y="3474720"/>
            <a:ext cx="2624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Non-commercial transactions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452360" y="1691640"/>
            <a:ext cx="4160520" cy="23774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7726680" y="181965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726680" y="214884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1,067,371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7726680" y="242316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in the combined raw dataset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726680" y="2615184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824,364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7726680" y="288950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with a valid Customer ID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726680" y="30815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243,007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7726680" y="335584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without a Customer ID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726680" y="3547872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5,942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7726680" y="382219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 identified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48640" y="425196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EEF3FD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" y="44165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22960" y="47548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was restricted to transactions with a valid Customer ID — reliable behavioral history requires a stable identifier. Cancellations and non-commercial transactions were removed per the project's cleaning rules.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035040" y="425196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EEF3FD"/>
          </a:solidFill>
          <a:ln/>
        </p:spPr>
      </p:sp>
      <p:sp>
        <p:nvSpPr>
          <p:cNvPr id="50" name="Text 48"/>
          <p:cNvSpPr/>
          <p:nvPr/>
        </p:nvSpPr>
        <p:spPr>
          <a:xfrm>
            <a:off x="6309360" y="44165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309360" y="47548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has to happen before temporal feature construction — invalid or duplicate transactions directly distort behavioral measurements like order counts and spend.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Customer Behavior Shift Detection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65158A-4029-940B-717E-3E7F3DB6B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>
            <a:extLst>
              <a:ext uri="{FF2B5EF4-FFF2-40B4-BE49-F238E27FC236}">
                <a16:creationId xmlns:a16="http://schemas.microsoft.com/office/drawing/2014/main" id="{B3636918-23BB-27A6-2EDA-75A2828AB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169" y="1571348"/>
            <a:ext cx="11345662" cy="4695065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361E0FC6-D34B-A6BF-004F-EAA6964DF8C2}"/>
              </a:ext>
            </a:extLst>
          </p:cNvPr>
          <p:cNvSpPr txBox="1"/>
          <p:nvPr/>
        </p:nvSpPr>
        <p:spPr>
          <a:xfrm>
            <a:off x="798989" y="618220"/>
            <a:ext cx="69600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Inspection &amp; Cleaning</a:t>
            </a:r>
            <a:endParaRPr lang="en-US" sz="3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85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Pipeline, End to End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160020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4505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76148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cancellations,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&amp; invalid rows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48840" y="2377440"/>
            <a:ext cx="29809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46934" y="2377440"/>
            <a:ext cx="160020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538374" y="24505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38374" y="276148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538374" y="32461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activity per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time window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047134" y="2377440"/>
            <a:ext cx="29809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5229" y="2377440"/>
            <a:ext cx="1600200" cy="1371600"/>
          </a:xfrm>
          <a:prstGeom prst="roundRect">
            <a:avLst>
              <a:gd name="adj" fmla="val 6000"/>
            </a:avLst>
          </a:prstGeom>
          <a:solidFill>
            <a:srgbClr val="F2994A"/>
          </a:solidFill>
          <a:ln/>
        </p:spPr>
      </p:sp>
      <p:sp>
        <p:nvSpPr>
          <p:cNvPr id="14" name="Text 12"/>
          <p:cNvSpPr/>
          <p:nvPr/>
        </p:nvSpPr>
        <p:spPr>
          <a:xfrm>
            <a:off x="4436669" y="24505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36669" y="276148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36669" y="32461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&amp; flag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Shift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5429" y="2377440"/>
            <a:ext cx="29809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43523" y="2377440"/>
            <a:ext cx="1600200" cy="1371600"/>
          </a:xfrm>
          <a:prstGeom prst="roundRect">
            <a:avLst>
              <a:gd name="adj" fmla="val 6000"/>
            </a:avLst>
          </a:prstGeom>
          <a:solidFill>
            <a:srgbClr val="F2994A"/>
          </a:solidFill>
          <a:ln/>
        </p:spPr>
      </p:sp>
      <p:sp>
        <p:nvSpPr>
          <p:cNvPr id="19" name="Text 17"/>
          <p:cNvSpPr/>
          <p:nvPr/>
        </p:nvSpPr>
        <p:spPr>
          <a:xfrm>
            <a:off x="6334963" y="24505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34963" y="276148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34963" y="32461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843723" y="2377440"/>
            <a:ext cx="29809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141818" y="2377440"/>
            <a:ext cx="1600200" cy="137160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/>
        </p:spPr>
      </p:sp>
      <p:sp>
        <p:nvSpPr>
          <p:cNvPr id="24" name="Text 22"/>
          <p:cNvSpPr/>
          <p:nvPr/>
        </p:nvSpPr>
        <p:spPr>
          <a:xfrm>
            <a:off x="8233258" y="24505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33258" y="276148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33258" y="32461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CV &amp;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742018" y="2377440"/>
            <a:ext cx="29809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0040112" y="2377440"/>
            <a:ext cx="1600200" cy="137160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/>
        </p:spPr>
      </p:sp>
      <p:sp>
        <p:nvSpPr>
          <p:cNvPr id="29" name="Text 27"/>
          <p:cNvSpPr/>
          <p:nvPr/>
        </p:nvSpPr>
        <p:spPr>
          <a:xfrm>
            <a:off x="10131552" y="24505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131552" y="276148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131552" y="32461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predictions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SHAP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was built as its own notebook — with strict guardrails against data leakage carried through the whole chain.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Customer Behavior Shift Detection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were rolled up per customer into fixed-length observation windows (30 / 60 / 90 days), producing three feature families: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EEF3F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352044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Activity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spend, quantity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products, active days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per order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EEF3FD"/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1965960"/>
            <a:ext cx="3520440" cy="54864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9659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Window (prev_)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metrics, shifted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window back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customer, sorted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window order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9659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EEF3FD"/>
          </a:solidFill>
          <a:ln/>
        </p:spPr>
      </p:sp>
      <p:sp>
        <p:nvSpPr>
          <p:cNvPr id="13" name="Shape 11"/>
          <p:cNvSpPr/>
          <p:nvPr/>
        </p:nvSpPr>
        <p:spPr>
          <a:xfrm>
            <a:off x="8138160" y="1965960"/>
            <a:ext cx="3520440" cy="5486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9659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(% delta)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66760" y="274320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(current − previous) / previous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direction &amp; size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behavior change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signal for the model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Customer Behavior Shift Detection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“Behavior Shift”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customer-window, we looked one window into the future and measured how much orders and spend changed: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80160" y="1965960"/>
            <a:ext cx="9601200" cy="1371600"/>
          </a:xfrm>
          <a:prstGeom prst="roundRect">
            <a:avLst>
              <a:gd name="adj" fmla="val 6667"/>
            </a:avLst>
          </a:prstGeom>
          <a:solidFill>
            <a:srgbClr val="141B4D"/>
          </a:solidFill>
          <a:ln w="15875">
            <a:solidFill>
              <a:srgbClr val="F299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3317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BehaviorShift = 1  if</a:t>
            </a:r>
            <a:r>
              <a:rPr lang="en-US" sz="1600" b="1" dirty="0">
                <a:solidFill>
                  <a:srgbClr val="F2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future_orders_change ≤ -T   OR   future_spend_change ≤ -T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3703320"/>
            <a:ext cx="9601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next_orders and next_spend are computed with a per-customer shift(-1) — strictly future values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is a percentage: (next − current) / current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is a tunable threshold — how large a drop counts as a real ‘shift’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future-only columns are excluded from the model inputs to prevent data leakage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Customer Behavior Shift Detection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Threshold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five candidate thresholds. A higher threshold means a stricter definition of ‘shift’ — fewer positive cases, but a stronger signal.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492240" cy="2743200"/>
        </p:xfrm>
        <a:graphic>
          <a:graphicData uri="http://schemas.openxmlformats.org/drawingml/2006/table">
            <a:tbl>
              <a:tblPr/>
              <a:tblGrid>
                <a:gridCol w="2164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Positive 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Flagged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783080"/>
            <a:ext cx="4297680" cy="4206240"/>
          </a:xfrm>
          <a:prstGeom prst="roundRect">
            <a:avLst>
              <a:gd name="adj" fmla="val 1739"/>
            </a:avLst>
          </a:prstGeom>
          <a:solidFill>
            <a:srgbClr val="EEF3FD"/>
          </a:solidFill>
          <a:ln/>
        </p:spPr>
      </p:sp>
      <p:sp>
        <p:nvSpPr>
          <p:cNvPr id="6" name="Text 3"/>
          <p:cNvSpPr/>
          <p:nvPr/>
        </p:nvSpPr>
        <p:spPr>
          <a:xfrm>
            <a:off x="758952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Choice: 30%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589520" y="242316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enough for stable training (~28% positive)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F1 and PR-AUC lift over the random baseline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stable across 5-fold time-series CV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captures meaningful, real behavior change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Customer Behavior Shift Detection</a:t>
            </a:r>
            <a:endParaRPr lang="en-US" sz="900" dirty="0"/>
          </a:p>
        </p:txBody>
      </p:sp>
      <p:sp>
        <p:nvSpPr>
          <p:cNvPr id="4" name="Text 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Guarding Against Data Leakage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EEF3FD"/>
          </a:solidFill>
          <a:ln/>
        </p:spPr>
      </p:sp>
      <p:sp>
        <p:nvSpPr>
          <p:cNvPr id="4" name="Shape 2"/>
          <p:cNvSpPr/>
          <p:nvPr/>
        </p:nvSpPr>
        <p:spPr>
          <a:xfrm>
            <a:off x="1988820" y="164592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98882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future information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next_orders, next_spend and their % changes are dropped from the model inputs — the model never sees the answer.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EEF3FD"/>
          </a:solidFill>
          <a:ln/>
        </p:spPr>
      </p:sp>
      <p:sp>
        <p:nvSpPr>
          <p:cNvPr id="9" name="Shape 7"/>
          <p:cNvSpPr/>
          <p:nvPr/>
        </p:nvSpPr>
        <p:spPr>
          <a:xfrm>
            <a:off x="5783580" y="1645920"/>
            <a:ext cx="640080" cy="6400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0" name="Text 8"/>
          <p:cNvSpPr/>
          <p:nvPr/>
        </p:nvSpPr>
        <p:spPr>
          <a:xfrm>
            <a:off x="578358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0" y="24231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identity shortcuts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17720" y="28346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CustomerID, window dates and other identifiers are excluded, so the model learns behavior patterns, not who the customer is.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EEF3FD"/>
          </a:solidFill>
          <a:ln/>
        </p:spPr>
      </p:sp>
      <p:sp>
        <p:nvSpPr>
          <p:cNvPr id="14" name="Shape 12"/>
          <p:cNvSpPr/>
          <p:nvPr/>
        </p:nvSpPr>
        <p:spPr>
          <a:xfrm>
            <a:off x="9578340" y="1645920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5" name="Text 13"/>
          <p:cNvSpPr/>
          <p:nvPr/>
        </p:nvSpPr>
        <p:spPr>
          <a:xfrm>
            <a:off x="957834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66760" y="24231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split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12480" y="28346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follows window_id chronologically (80/20) — never a random shuffle across time.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370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7091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leaks the future — or memorizes customer IDs — looks great on paper and fails completely on real, unseen customers. Every guardrail here exists so the reported metrics reflect what the model would actually do in production.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Customer Behavior Shift Detection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Four Models (30% Threshold)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3072384"/>
        </p:xfrm>
        <a:graphic>
          <a:graphicData uri="http://schemas.openxmlformats.org/drawingml/2006/table">
            <a:tbl>
              <a:tblPr/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(class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(class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(class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709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and LightGBM led on Recall — catching more true behavior shifts — while all tree-based models clearly outperformed the linear baseline.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Customer Behavior Shift Detection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Validating Stability Over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shuffling would let the model peek at the future. Instead, we used TimeSeriesSplit (5 folds, expanding window) to confirm performance holds up chronologically.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EF3FD"/>
          </a:solidFill>
          <a:ln/>
        </p:spPr>
      </p:sp>
      <p:sp>
        <p:nvSpPr>
          <p:cNvPr id="5" name="Shape 3"/>
          <p:cNvSpPr/>
          <p:nvPr/>
        </p:nvSpPr>
        <p:spPr>
          <a:xfrm>
            <a:off x="1769364" y="2258568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688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0.012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0574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EF3FD"/>
          </a:solidFill>
          <a:ln/>
        </p:spPr>
      </p:sp>
      <p:sp>
        <p:nvSpPr>
          <p:cNvPr id="10" name="Shape 8"/>
          <p:cNvSpPr/>
          <p:nvPr/>
        </p:nvSpPr>
        <p:spPr>
          <a:xfrm>
            <a:off x="4604004" y="2258568"/>
            <a:ext cx="164592" cy="164592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4688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0.681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31089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0.028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3429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0574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EF3FD"/>
          </a:solidFill>
          <a:ln/>
        </p:spPr>
      </p:sp>
      <p:sp>
        <p:nvSpPr>
          <p:cNvPr id="15" name="Shape 13"/>
          <p:cNvSpPr/>
          <p:nvPr/>
        </p:nvSpPr>
        <p:spPr>
          <a:xfrm>
            <a:off x="7438644" y="2258568"/>
            <a:ext cx="164592" cy="16459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4688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0.677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17920" y="31089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3429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(class 1)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20574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EF3FD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73284" y="2258568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9052560" y="24688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0.666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052560" y="31089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0.022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52560" y="3429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(class 1)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3159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4645152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standard deviations across every metric (≤ 0.03) show the model's performance is consistent from one time period to the next — not a lucky single split.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Customer Behavior Shift Detection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— Tuned XGBoost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configuration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035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30% (orders/spend drop)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 200   |   max_depth: 6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learning_rate: 0.01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subsample: 1.0   |   colsample_bytree: 0.9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≈ 1.84 (class imbalance)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'orders' (raw) dropped — redundant, low-signal feature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63640" y="114300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141B4D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0" y="1371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Performance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0" y="19659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(class 1)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0" y="1965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583680" y="2624328"/>
            <a:ext cx="4754880" cy="0"/>
          </a:xfrm>
          <a:prstGeom prst="line">
            <a:avLst/>
          </a:prstGeom>
          <a:noFill/>
          <a:ln w="12700">
            <a:solidFill>
              <a:srgbClr val="2B34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743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(class 1)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418320" y="2743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583680" y="3401568"/>
            <a:ext cx="4754880" cy="0"/>
          </a:xfrm>
          <a:prstGeom prst="line">
            <a:avLst/>
          </a:prstGeom>
          <a:noFill/>
          <a:ln w="12700">
            <a:solidFill>
              <a:srgbClr val="2B34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35204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18320" y="3520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0.811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583680" y="4178808"/>
            <a:ext cx="4754880" cy="0"/>
          </a:xfrm>
          <a:prstGeom prst="line">
            <a:avLst/>
          </a:prstGeom>
          <a:noFill/>
          <a:ln w="12700">
            <a:solidFill>
              <a:srgbClr val="2B34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4297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418320" y="4297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0.684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583680" y="4956048"/>
            <a:ext cx="4754880" cy="0"/>
          </a:xfrm>
          <a:prstGeom prst="line">
            <a:avLst/>
          </a:prstGeom>
          <a:noFill/>
          <a:ln w="12700">
            <a:solidFill>
              <a:srgbClr val="2B34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Customer Behavior Shift Detection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— What Drives the Prediction?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show not just which features matter, but how each one pushes a prediction toward or away from a Behavior Shift.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orders_change_pct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29000" y="1993392"/>
            <a:ext cx="2926080" cy="292608"/>
          </a:xfrm>
          <a:prstGeom prst="roundRect">
            <a:avLst>
              <a:gd name="adj" fmla="val 12500"/>
            </a:avLst>
          </a:prstGeom>
          <a:solidFill>
            <a:srgbClr val="EEF3FD"/>
          </a:solidFill>
          <a:ln/>
        </p:spPr>
      </p:sp>
      <p:sp>
        <p:nvSpPr>
          <p:cNvPr id="6" name="Shape 4"/>
          <p:cNvSpPr/>
          <p:nvPr/>
        </p:nvSpPr>
        <p:spPr>
          <a:xfrm>
            <a:off x="3429000" y="1993392"/>
            <a:ext cx="2926080" cy="29260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orders than last window → strongest signal of a shift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2633472"/>
            <a:ext cx="2926080" cy="292608"/>
          </a:xfrm>
          <a:prstGeom prst="roundRect">
            <a:avLst>
              <a:gd name="adj" fmla="val 12500"/>
            </a:avLst>
          </a:prstGeom>
          <a:solidFill>
            <a:srgbClr val="EEF3FD"/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0" y="2633472"/>
            <a:ext cx="1814170" cy="292608"/>
          </a:xfrm>
          <a:prstGeom prst="roundRect">
            <a:avLst>
              <a:gd name="adj" fmla="val 12500"/>
            </a:avLst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560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current spend → higher shift probability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active_days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29000" y="3273552"/>
            <a:ext cx="2926080" cy="292608"/>
          </a:xfrm>
          <a:prstGeom prst="roundRect">
            <a:avLst>
              <a:gd name="adj" fmla="val 12500"/>
            </a:avLst>
          </a:prstGeom>
          <a:solidFill>
            <a:srgbClr val="EEF3FD"/>
          </a:solidFill>
          <a:ln/>
        </p:spPr>
      </p:sp>
      <p:sp>
        <p:nvSpPr>
          <p:cNvPr id="14" name="Shape 12"/>
          <p:cNvSpPr/>
          <p:nvPr/>
        </p:nvSpPr>
        <p:spPr>
          <a:xfrm>
            <a:off x="3429000" y="3273552"/>
            <a:ext cx="936346" cy="292608"/>
          </a:xfrm>
          <a:prstGeom prst="roundRect">
            <a:avLst>
              <a:gd name="adj" fmla="val 12500"/>
            </a:avLst>
          </a:prstGeom>
          <a:solidFill>
            <a:srgbClr val="2E8B57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active days in the window adds risk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avargeOrderValue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29000" y="3913632"/>
            <a:ext cx="2926080" cy="292608"/>
          </a:xfrm>
          <a:prstGeom prst="roundRect">
            <a:avLst>
              <a:gd name="adj" fmla="val 12500"/>
            </a:avLst>
          </a:prstGeom>
          <a:solidFill>
            <a:srgbClr val="EEF3FD"/>
          </a:solidFill>
          <a:ln/>
        </p:spPr>
      </p:sp>
      <p:sp>
        <p:nvSpPr>
          <p:cNvPr id="18" name="Shape 16"/>
          <p:cNvSpPr/>
          <p:nvPr/>
        </p:nvSpPr>
        <p:spPr>
          <a:xfrm>
            <a:off x="3429000" y="3913632"/>
            <a:ext cx="702259" cy="292608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average order value pushes risk up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9377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top signals — a drop in order frequency and current spend — line up with real business intuition, not statistical artifacts.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Customer Behavior Shift Detection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31E8E6-6A4B-64DD-B30C-3E21E017E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458429-0392-43A3-BEFD-42766B2FB16F}"/>
              </a:ext>
            </a:extLst>
          </p:cNvPr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— What Drives the Prediction?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BF0E905-E691-4412-B49A-A40140D3D74B}"/>
              </a:ext>
            </a:extLst>
          </p:cNvPr>
          <p:cNvSpPr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show not just which features matter, but how each one pushes a prediction toward or away from a Behavior Shift.</a:t>
            </a:r>
            <a:endParaRPr lang="en-US" sz="13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FF234CD-505D-0009-ADD8-B993BBE1A111}"/>
              </a:ext>
            </a:extLst>
          </p:cNvPr>
          <p:cNvSpPr/>
          <p:nvPr/>
        </p:nvSpPr>
        <p:spPr>
          <a:xfrm>
            <a:off x="658368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84AAF4C-E9D1-9168-76CF-C40157C36F05}"/>
              </a:ext>
            </a:extLst>
          </p:cNvPr>
          <p:cNvSpPr/>
          <p:nvPr/>
        </p:nvSpPr>
        <p:spPr>
          <a:xfrm>
            <a:off x="6583680" y="2560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8791C7F-3CD9-D4F8-4CBC-37624B50AC66}"/>
              </a:ext>
            </a:extLst>
          </p:cNvPr>
          <p:cNvSpPr/>
          <p:nvPr/>
        </p:nvSpPr>
        <p:spPr>
          <a:xfrm>
            <a:off x="658368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C94F043-BB1C-8058-0EEC-E6B667134799}"/>
              </a:ext>
            </a:extLst>
          </p:cNvPr>
          <p:cNvSpPr/>
          <p:nvPr/>
        </p:nvSpPr>
        <p:spPr>
          <a:xfrm>
            <a:off x="658368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11C6F96-4776-CA39-62C0-D3CB8A5F58E6}"/>
              </a:ext>
            </a:extLst>
          </p:cNvPr>
          <p:cNvSpPr/>
          <p:nvPr/>
        </p:nvSpPr>
        <p:spPr>
          <a:xfrm>
            <a:off x="914400" y="49377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1CB89E4-1BCE-A4FD-879F-3C383055EBFB}"/>
              </a:ext>
            </a:extLst>
          </p:cNvPr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Customer Behavior Shift Detection</a:t>
            </a:r>
            <a:endParaRPr lang="en-US" sz="9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6D81BE6-EFCF-C706-1C84-95146B636C28}"/>
              </a:ext>
            </a:extLst>
          </p:cNvPr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74AA99C-0FCF-83B7-2452-981E3C38F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59"/>
            <a:ext cx="5186335" cy="486540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B89C716-B7D1-9EA2-E4A4-296EA078E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975" y="1508760"/>
            <a:ext cx="5741751" cy="486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66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Notebook to Production — REST API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tuned XGBoost model was wrapped in a FastAPI REST service so predictions can be requested outside the notebook.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/health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2029968"/>
            <a:ext cx="23225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API and model are live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547872" y="1664208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/metadata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47872" y="2029968"/>
            <a:ext cx="23225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info &amp; feature schema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664208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/versions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82512" y="2029968"/>
            <a:ext cx="23225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model version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52560" y="15544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2E8B57"/>
          </a:solidFill>
          <a:ln/>
        </p:spPr>
      </p:sp>
      <p:sp>
        <p:nvSpPr>
          <p:cNvPr id="14" name="Text 12"/>
          <p:cNvSpPr/>
          <p:nvPr/>
        </p:nvSpPr>
        <p:spPr>
          <a:xfrm>
            <a:off x="9217152" y="1664208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/predict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17152" y="2029968"/>
            <a:ext cx="23225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features → prediction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EF3F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01752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0.30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410712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applies the same threshold chosen during validation — not re-tuned on the test set — keeping the decision boundary honest.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28803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EF3F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0175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vs. API — Identical Output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355848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Probability:  </a:t>
            </a: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0.14842  =  0.14842
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 </a:t>
            </a: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=  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388620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Deployment verified — same result as the notebook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416552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EF3FD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55371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892040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feature (e.g. months_since_previous) → </a:t>
            </a: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 Unprocessable
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type (text instead of number) → </a:t>
            </a: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 Unprocessable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4416552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55371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Suite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0" y="4873752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-v  →  6 passed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5239512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· metadata · versions · valid_prediction · missing_feature · invalid_type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Customer Behavior Shift Detection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EEF3F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08760" y="16459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over precision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real shift costs more than a false alarm — we optimized to catch as many true shifts as possible.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EEF3FD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164592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23760" y="16459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change beats history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37960" y="228600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behavior changed this window matters far more than raw past totals.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EEF3FD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39776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matters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461772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turns the model from a black box into a tool the business can act on and trust.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370332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EEF3FD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7960" y="397764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223760" y="39776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validated, stable model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537960" y="461772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CV confirms the results generalize across periods, not just one lucky split.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Customer Behavior Shift Detection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EEF3F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534924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We Navigated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4800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across every threshold tested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subtle data leakage (future columns, IDs, near-duplicate targets)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(raw ‘orders’) dominating importance for the wrong reason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threshold that is both statistically sound and business-meaningful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28016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EEF3FD"/>
          </a:solidFill>
          <a:ln/>
        </p:spPr>
      </p:sp>
      <p:sp>
        <p:nvSpPr>
          <p:cNvPr id="8" name="Shape 6"/>
          <p:cNvSpPr/>
          <p:nvPr/>
        </p:nvSpPr>
        <p:spPr>
          <a:xfrm>
            <a:off x="6263640" y="1280160"/>
            <a:ext cx="5349240" cy="5029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2801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1965960"/>
            <a:ext cx="4800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 SHAP explanations for account-level retention actions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60/90-day windows for longer-cycle customers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dashboard to surface at-risk customers weekly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pipeline as new transaction data arrives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Customer Behavior Shift Detection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3D40B-EFA6-54B2-D108-0F0780487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F6694E3-EF61-E68D-518E-E7CDCDE47E6C}"/>
              </a:ext>
            </a:extLst>
          </p:cNvPr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Live Demo-Testing the API!</a:t>
            </a:r>
            <a:r>
              <a:rPr lang="ar-SA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</a:t>
            </a:r>
            <a:endParaRPr lang="en-US" sz="3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10F921B-8436-2D60-3C20-FF6726D347B9}"/>
              </a:ext>
            </a:extLst>
          </p:cNvPr>
          <p:cNvSpPr/>
          <p:nvPr/>
        </p:nvSpPr>
        <p:spPr>
          <a:xfrm>
            <a:off x="548640" y="4709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7C5385E-AC43-3E02-2BD3-81FA7209081E}"/>
              </a:ext>
            </a:extLst>
          </p:cNvPr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Customer Behavior Shift Detection</a:t>
            </a:r>
            <a:endParaRPr lang="en-US" sz="9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BA0EFF1-D6FA-D280-F5FA-25DA5CA1F7A8}"/>
              </a:ext>
            </a:extLst>
          </p:cNvPr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7E910E-3C50-AF9C-13E8-66455B36CD8B}"/>
              </a:ext>
            </a:extLst>
          </p:cNvPr>
          <p:cNvSpPr txBox="1"/>
          <p:nvPr/>
        </p:nvSpPr>
        <p:spPr>
          <a:xfrm>
            <a:off x="834502" y="1725780"/>
            <a:ext cx="354219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{</a:t>
            </a:r>
          </a:p>
          <a:p>
            <a:r>
              <a:rPr lang="en-US" sz="1200" dirty="0"/>
              <a:t>  "spend": 1294.32,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totalQuantity</a:t>
            </a:r>
            <a:r>
              <a:rPr lang="en-US" sz="1200" dirty="0"/>
              <a:t>": 676,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unique_products</a:t>
            </a:r>
            <a:r>
              <a:rPr lang="en-US" sz="1200" dirty="0"/>
              <a:t>": 47,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active_days</a:t>
            </a:r>
            <a:r>
              <a:rPr lang="en-US" sz="1200" dirty="0"/>
              <a:t>": 1,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line_items</a:t>
            </a:r>
            <a:r>
              <a:rPr lang="en-US" sz="1200" dirty="0"/>
              <a:t>": 47,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avargeOrderValue</a:t>
            </a:r>
            <a:r>
              <a:rPr lang="en-US" sz="1200" dirty="0"/>
              <a:t>": 1294.32,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items_per_order</a:t>
            </a:r>
            <a:r>
              <a:rPr lang="en-US" sz="1200" dirty="0"/>
              <a:t>": 47.0,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window_days</a:t>
            </a:r>
            <a:r>
              <a:rPr lang="en-US" sz="1200" dirty="0"/>
              <a:t>": 30,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prev_orders</a:t>
            </a:r>
            <a:r>
              <a:rPr lang="en-US" sz="1200" dirty="0"/>
              <a:t>": 1.0,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prev_spend</a:t>
            </a:r>
            <a:r>
              <a:rPr lang="en-US" sz="1200" dirty="0"/>
              <a:t>": 584.91,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prev_totalQuantity</a:t>
            </a:r>
            <a:r>
              <a:rPr lang="en-US" sz="1200" dirty="0"/>
              <a:t>": 277,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prev_avargeOrderValue</a:t>
            </a:r>
            <a:r>
              <a:rPr lang="en-US" sz="1200" dirty="0"/>
              <a:t>": 584.91,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prev_unique_products</a:t>
            </a:r>
            <a:r>
              <a:rPr lang="en-US" sz="1200" dirty="0"/>
              <a:t>": 22.0,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prev_active_days</a:t>
            </a:r>
            <a:r>
              <a:rPr lang="en-US" sz="1200" dirty="0"/>
              <a:t>": 1.0,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prev_items_per_order</a:t>
            </a:r>
            <a:r>
              <a:rPr lang="en-US" sz="1200" dirty="0"/>
              <a:t>": 22.0,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orders_change_pct</a:t>
            </a:r>
            <a:r>
              <a:rPr lang="en-US" sz="1200" dirty="0"/>
              <a:t>": 0.0,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spend_change_pct</a:t>
            </a:r>
            <a:r>
              <a:rPr lang="en-US" sz="1200" dirty="0"/>
              <a:t>": 1.212853,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totalQuantity_change_pct</a:t>
            </a:r>
            <a:r>
              <a:rPr lang="en-US" sz="1200" dirty="0"/>
              <a:t>": 1.440433,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avargeOrderValue_change_pct</a:t>
            </a:r>
            <a:r>
              <a:rPr lang="en-US" sz="1200" dirty="0"/>
              <a:t>": 1.212853,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unique_products_change_pct</a:t>
            </a:r>
            <a:r>
              <a:rPr lang="en-US" sz="1200" dirty="0"/>
              <a:t>": 1.136364,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active_days_change_pct</a:t>
            </a:r>
            <a:r>
              <a:rPr lang="en-US" sz="1200" dirty="0"/>
              <a:t>": 0.0,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items_per_order_change_pct</a:t>
            </a:r>
            <a:r>
              <a:rPr lang="en-US" sz="1200" dirty="0"/>
              <a:t>": 1.136364</a:t>
            </a:r>
          </a:p>
          <a:p>
            <a:r>
              <a:rPr lang="en-US" sz="1200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1D2A29-13A0-2309-6D5A-FDD4BE991912}"/>
              </a:ext>
            </a:extLst>
          </p:cNvPr>
          <p:cNvSpPr txBox="1"/>
          <p:nvPr/>
        </p:nvSpPr>
        <p:spPr>
          <a:xfrm>
            <a:off x="6010184" y="1528031"/>
            <a:ext cx="44477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{</a:t>
            </a:r>
          </a:p>
          <a:p>
            <a:r>
              <a:rPr lang="en-US" sz="1200" dirty="0"/>
              <a:t>  "spend": 84.65,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totalQuantity</a:t>
            </a:r>
            <a:r>
              <a:rPr lang="en-US" sz="1200" dirty="0"/>
              <a:t>": 25,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unique_products</a:t>
            </a:r>
            <a:r>
              <a:rPr lang="en-US" sz="1200" dirty="0"/>
              <a:t>": 4,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active_days</a:t>
            </a:r>
            <a:r>
              <a:rPr lang="en-US" sz="1200" dirty="0"/>
              <a:t>": 1,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line_items</a:t>
            </a:r>
            <a:r>
              <a:rPr lang="en-US" sz="1200" dirty="0"/>
              <a:t>": 4,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avargeOrderValue</a:t>
            </a:r>
            <a:r>
              <a:rPr lang="en-US" sz="1200" dirty="0"/>
              <a:t>": 84.65,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items_per_order</a:t>
            </a:r>
            <a:r>
              <a:rPr lang="en-US" sz="1200" dirty="0"/>
              <a:t>": 4.0,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window_days</a:t>
            </a:r>
            <a:r>
              <a:rPr lang="en-US" sz="1200" dirty="0"/>
              <a:t>": 30,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prev_orders</a:t>
            </a:r>
            <a:r>
              <a:rPr lang="en-US" sz="1200" dirty="0"/>
              <a:t>": 1.0,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prev_spend</a:t>
            </a:r>
            <a:r>
              <a:rPr lang="en-US" sz="1200" dirty="0"/>
              <a:t>": 425.25,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prev_totalQuantity</a:t>
            </a:r>
            <a:r>
              <a:rPr lang="en-US" sz="1200" dirty="0"/>
              <a:t>": 177.0,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prev_avargeOrderValue</a:t>
            </a:r>
            <a:r>
              <a:rPr lang="en-US" sz="1200" dirty="0"/>
              <a:t>": 425.25,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prev_unique_products</a:t>
            </a:r>
            <a:r>
              <a:rPr lang="en-US" sz="1200" dirty="0"/>
              <a:t>": 23.0,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prev_active_days</a:t>
            </a:r>
            <a:r>
              <a:rPr lang="en-US" sz="1200" dirty="0"/>
              <a:t>": 1.0,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prev_items_per_order</a:t>
            </a:r>
            <a:r>
              <a:rPr lang="en-US" sz="1200" dirty="0"/>
              <a:t>": 23.0,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orders_change_pct</a:t>
            </a:r>
            <a:r>
              <a:rPr lang="en-US" sz="1200" dirty="0"/>
              <a:t>": 0.0,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spend_change_pct</a:t>
            </a:r>
            <a:r>
              <a:rPr lang="en-US" sz="1200" dirty="0"/>
              <a:t>": -0.8009406231628454,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totalQuantity_change_pct</a:t>
            </a:r>
            <a:r>
              <a:rPr lang="en-US" sz="1200" dirty="0"/>
              <a:t>": -0.8587570621468926,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avargeOrderValue_change_pct</a:t>
            </a:r>
            <a:r>
              <a:rPr lang="en-US" sz="1200" dirty="0"/>
              <a:t>": -0.8009406231628454,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unique_products_change_pct</a:t>
            </a:r>
            <a:r>
              <a:rPr lang="en-US" sz="1200" dirty="0"/>
              <a:t>": -0.8260869565217391,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active_days_change_pct</a:t>
            </a:r>
            <a:r>
              <a:rPr lang="en-US" sz="1200" dirty="0"/>
              <a:t>": 0.0,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items_per_order_change_pct</a:t>
            </a:r>
            <a:r>
              <a:rPr lang="en-US" sz="1200" dirty="0"/>
              <a:t>": -0.8260869565217391</a:t>
            </a:r>
          </a:p>
          <a:p>
            <a:r>
              <a:rPr lang="en-US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35395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2286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977640"/>
            <a:ext cx="2011680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Sara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Alwadia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&amp; Rana Almadhoun 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526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GSG × PSSAR Advanced Training•  Capstone Project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Customer Behavior Shift Detection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2190</Words>
  <Application>Microsoft Office PowerPoint</Application>
  <PresentationFormat>Widescreen</PresentationFormat>
  <Paragraphs>390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rana almadhoun</cp:lastModifiedBy>
  <cp:revision>6</cp:revision>
  <dcterms:created xsi:type="dcterms:W3CDTF">2026-08-12T08:18:09Z</dcterms:created>
  <dcterms:modified xsi:type="dcterms:W3CDTF">2026-08-13T09:09:13Z</dcterms:modified>
</cp:coreProperties>
</file>